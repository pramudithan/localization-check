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6858000" cy="5394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6126480" cy="466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800"/>
              </a:spcAft>
              <a:defRPr sz="1100" b="1">
                <a:solidFill>
                  <a:srgbClr val="2563EB"/>
                </a:solidFill>
                <a:latin typeface="Segoe UI"/>
              </a:defRPr>
            </a:pPr>
            <a:r>
              <a:t>VS CODE EXTENSION • OPEN SOURCE (MIT)</a:t>
            </a:r>
          </a:p>
          <a:p>
            <a:pPr>
              <a:spcAft>
                <a:spcPts val="1000"/>
              </a:spcAft>
              <a:defRPr sz="3600" b="1">
                <a:solidFill>
                  <a:srgbClr val="0F172A"/>
                </a:solidFill>
                <a:latin typeface="Segoe UI"/>
              </a:defRPr>
            </a:pPr>
            <a:r>
              <a:t>Localization Check</a:t>
            </a:r>
          </a:p>
          <a:p>
            <a:pPr>
              <a:spcAft>
                <a:spcPts val="1800"/>
              </a:spcAft>
              <a:defRPr sz="1800">
                <a:solidFill>
                  <a:srgbClr val="334155"/>
                </a:solidFill>
                <a:latin typeface="Segoe UI"/>
              </a:defRPr>
            </a:pPr>
            <a:r>
              <a:t>Catching hardcoded UI text before our users do.</a:t>
            </a:r>
          </a:p>
          <a:p>
            <a:pPr>
              <a:spcAft>
                <a:spcPts val="2800"/>
              </a:spcAft>
              <a:defRPr sz="1300">
                <a:solidFill>
                  <a:srgbClr val="64748B"/>
                </a:solidFill>
                <a:latin typeface="Segoe UI"/>
              </a:defRPr>
            </a:pPr>
            <a:r>
              <a:t>A developer tool that flags unlocalized strings in changed TypeScript and React files. It uses AST compiler trees instead of noisy regex, and fixes them with Copilot in one keystroke.</a:t>
            </a:r>
          </a:p>
          <a:p>
            <a:pPr>
              <a:defRPr sz="1050">
                <a:solidFill>
                  <a:srgbClr val="334155"/>
                </a:solidFill>
                <a:latin typeface="Consolas"/>
              </a:defRPr>
            </a:pPr>
            <a:r>
              <a:t>Works with: React • Next.js • React Native • TypeScript • JavaScript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731520"/>
            <a:ext cx="365760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0" y="914400"/>
            <a:ext cx="32004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No RegEx Guesswork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Uses the Babel AST parser to inspect actual syntax nodes. It knows the difference between a button label and a CSS class name.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2606039"/>
            <a:ext cx="365760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2788919"/>
            <a:ext cx="32004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Copilot Automated Fix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Press Alt + L on any underlined string. Copilot inserts the hook, updates en.json, and writes clean code for you in 2 seconds.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4480559"/>
            <a:ext cx="365760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4663439"/>
            <a:ext cx="32004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Zero Noise for Clean Files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Only runs live checks on files modified in Git or unsaved buffers. It never bogs down huge enterprise repositories.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THE REAL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Why hardcoded strings sneak into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Every frontend team deals with this, especially when shipping under deadlines.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429000" cy="443484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2880360" cy="3886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DC2626"/>
                </a:solidFill>
                <a:latin typeface="Segoe UI"/>
              </a:defRPr>
            </a:pPr>
            <a:r>
              <a:t>1. The Sprint Crunch</a:t>
            </a:r>
          </a:p>
          <a:p>
            <a:pPr>
              <a:spcAft>
                <a:spcPts val="20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A developer is shipping a modal at 6 PM on Thursday. They write &lt;button&gt;Save Details&lt;/button&gt; or toast.error('Payment failed'), intending to localize it tomorrow. It gets approved in PR, and next week our Spanish users see English buttons.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Human factor: Nobody forgets on purpose; manual steps get skipped when rushing.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1688" y="1691640"/>
            <a:ext cx="3429000" cy="44348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36008" y="1965960"/>
            <a:ext cx="2880360" cy="3886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2563EB"/>
                </a:solidFill>
                <a:latin typeface="Segoe UI"/>
              </a:defRPr>
            </a:pPr>
            <a:r>
              <a:t>2. Noisy Linters Cry Wolf</a:t>
            </a:r>
          </a:p>
          <a:p>
            <a:pPr>
              <a:spcAft>
                <a:spcPts val="20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Standard regex linters scream at everything: className='text-red-500', testId='user-id', or color='blue'. Developers get notification fatigue, ignore the warnings, or just disable the linter rule altogether.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Linter trap: When a tool gives 50 false alarms, developers stop trusting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91856" y="1691640"/>
            <a:ext cx="3429000" cy="443484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66176" y="1965960"/>
            <a:ext cx="2880360" cy="3886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059669"/>
                </a:solidFill>
                <a:latin typeface="Segoe UI"/>
              </a:defRPr>
            </a:pPr>
            <a:r>
              <a:t>3. The en.json Tax</a:t>
            </a:r>
          </a:p>
          <a:p>
            <a:pPr>
              <a:spcAft>
                <a:spcPts val="20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Even when doing it right, the workflow is annoying: think of a key name, switch to locales/en.json, paste the key, switch back, write the hook, import react-i18next. Doing this 40 times in a feature sprint drains mental energy.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Friction tax: High-friction processes invite shortcuts and missed keys.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UNDER THE HOOD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Real AST parsing, not pattern matching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The extension parses your TypeScript code the exact same way a compiler does.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57800" cy="4434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965960"/>
            <a:ext cx="4617720" cy="3886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What It Flags (High Confidence)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Segoe UI"/>
              </a:defRPr>
            </a:pPr>
            <a:r>
              <a:t>• JSX Text &amp; Tags: </a:t>
            </a:r>
            <a:r>
              <a:rPr b="0">
                <a:solidFill>
                  <a:srgbClr val="334155"/>
                </a:solidFill>
                <a:latin typeface="Segoe UI"/>
              </a:rPr>
              <a:t>Headings, paragraphs, spans, button titles (e.g. &lt;button&gt;Submit&lt;/button&gt;)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Segoe UI"/>
              </a:defRPr>
            </a:pPr>
            <a:r>
              <a:t>• UI Attributes: </a:t>
            </a:r>
            <a:r>
              <a:rPr b="0">
                <a:solidFill>
                  <a:srgbClr val="334155"/>
                </a:solidFill>
                <a:latin typeface="Segoe UI"/>
              </a:rPr>
              <a:t>label, title, placeholder, tooltip, aria-label, alt, helperText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Segoe UI"/>
              </a:defRPr>
            </a:pPr>
            <a:r>
              <a:t>• Object Properties: </a:t>
            </a:r>
            <a:r>
              <a:rPr b="0">
                <a:solidFill>
                  <a:srgbClr val="334155"/>
                </a:solidFill>
                <a:latin typeface="Segoe UI"/>
              </a:rPr>
              <a:t>title: 'Edit Profile', label: 'Email', message: 'Saved successfully'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Segoe UI"/>
              </a:defRPr>
            </a:pPr>
            <a:r>
              <a:t>• Notification Calls: </a:t>
            </a:r>
            <a:r>
              <a:rPr b="0">
                <a:solidFill>
                  <a:srgbClr val="334155"/>
                </a:solidFill>
                <a:latin typeface="Segoe UI"/>
              </a:rPr>
              <a:t>showNotification('warning', 'Session expired') — skips the status type!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Segoe UI"/>
              </a:defRPr>
            </a:pPr>
            <a:r>
              <a:t>• Template Literals: </a:t>
            </a:r>
            <a:r>
              <a:rPr b="0">
                <a:solidFill>
                  <a:srgbClr val="334155"/>
                </a:solidFill>
                <a:latin typeface="Segoe UI"/>
              </a:rPr>
              <a:t>Flags `Welcome back, ${user.name}!` while ignoring technical routes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91640"/>
            <a:ext cx="5257800" cy="4434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965960"/>
            <a:ext cx="4617720" cy="3886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What It Safely Ignores (Zero Noise)</a:t>
            </a:r>
          </a:p>
          <a:p>
            <a:pPr>
              <a:spcAft>
                <a:spcPts val="800"/>
              </a:spcAft>
              <a:defRPr sz="1150" b="1">
                <a:solidFill>
                  <a:srgbClr val="059669"/>
                </a:solidFill>
                <a:latin typeface="Segoe UI"/>
              </a:defRPr>
            </a:pPr>
            <a:r>
              <a:t>✓ 50+ Programming Types: </a:t>
            </a:r>
            <a:r>
              <a:rPr b="0">
                <a:solidFill>
                  <a:srgbClr val="334155"/>
                </a:solidFill>
                <a:latin typeface="Segoe UI"/>
              </a:rPr>
              <a:t>Promise, Observable, HTMLElement, Record, AxiosResponse, etc.</a:t>
            </a:r>
          </a:p>
          <a:p>
            <a:pPr>
              <a:spcAft>
                <a:spcPts val="800"/>
              </a:spcAft>
              <a:defRPr sz="1150" b="1">
                <a:solidFill>
                  <a:srgbClr val="059669"/>
                </a:solidFill>
                <a:latin typeface="Segoe UI"/>
              </a:defRPr>
            </a:pPr>
            <a:r>
              <a:t>✓ Styling &amp; Props: </a:t>
            </a:r>
            <a:r>
              <a:rPr b="0">
                <a:solidFill>
                  <a:srgbClr val="334155"/>
                </a:solidFill>
                <a:latin typeface="Segoe UI"/>
              </a:rPr>
              <a:t>className, id, style, data-testid, color, width, align, variant</a:t>
            </a:r>
          </a:p>
          <a:p>
            <a:pPr>
              <a:spcAft>
                <a:spcPts val="800"/>
              </a:spcAft>
              <a:defRPr sz="1150" b="1">
                <a:solidFill>
                  <a:srgbClr val="059669"/>
                </a:solidFill>
                <a:latin typeface="Segoe UI"/>
              </a:defRPr>
            </a:pPr>
            <a:r>
              <a:t>✓ Routes &amp; URLs: </a:t>
            </a:r>
            <a:r>
              <a:rPr b="0">
                <a:solidFill>
                  <a:srgbClr val="334155"/>
                </a:solidFill>
                <a:latin typeface="Segoe UI"/>
              </a:rPr>
              <a:t>https://api.domain.com, /dashboard/${tenantId}/settings</a:t>
            </a:r>
          </a:p>
          <a:p>
            <a:pPr>
              <a:spcAft>
                <a:spcPts val="800"/>
              </a:spcAft>
              <a:defRPr sz="1150" b="1">
                <a:solidFill>
                  <a:srgbClr val="059669"/>
                </a:solidFill>
                <a:latin typeface="Segoe UI"/>
              </a:defRPr>
            </a:pPr>
            <a:r>
              <a:t>✓ Technical Blocks: </a:t>
            </a:r>
            <a:r>
              <a:rPr b="0">
                <a:solidFill>
                  <a:srgbClr val="334155"/>
                </a:solidFill>
                <a:latin typeface="Segoe UI"/>
              </a:rPr>
              <a:t>spec: { label: 'batchTypeName', value: 'id' } in data mappings</a:t>
            </a:r>
          </a:p>
          <a:p>
            <a:pPr>
              <a:spcAft>
                <a:spcPts val="800"/>
              </a:spcAft>
              <a:defRPr sz="1150" b="1">
                <a:solidFill>
                  <a:srgbClr val="059669"/>
                </a:solidFill>
                <a:latin typeface="Segoe UI"/>
              </a:defRPr>
            </a:pPr>
            <a:r>
              <a:t>✓ Ignored Code Elements: </a:t>
            </a:r>
            <a:r>
              <a:rPr b="0">
                <a:solidFill>
                  <a:srgbClr val="334155"/>
                </a:solidFill>
                <a:latin typeface="Segoe UI"/>
              </a:rPr>
              <a:t>Any code or text inside &lt;code&gt;, &lt;pre&gt;, &lt;script&gt;, and &lt;style&gt;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Net result: When a squiggly line shows up, it's actually something a human needs to fix.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COPILOT AI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Press Alt + L: Done in 2 seconds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Turn tedious copy-pasting into a one-keystroke action.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57800" cy="44348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965960"/>
            <a:ext cx="4617720" cy="3886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DC2626"/>
                </a:solidFill>
                <a:latin typeface="Segoe UI"/>
              </a:defRPr>
            </a:pPr>
            <a:r>
              <a:t>BEFORE (What the developer wrote)</a:t>
            </a:r>
          </a:p>
          <a:p>
            <a:pPr>
              <a:spcAft>
                <a:spcPts val="1400"/>
              </a:spcAft>
              <a:defRPr sz="1100">
                <a:solidFill>
                  <a:srgbClr val="0F172A"/>
                </a:solidFill>
                <a:latin typeface="Consolas"/>
              </a:defRPr>
            </a:pPr>
            <a:r>
              <a:t>export function DeleteModal() {</a:t>
            </a:r>
            <a:br/>
            <a:r>
              <a:t>    return (</a:t>
            </a:r>
            <a:br/>
            <a:r>
              <a:t>        &lt;div&gt;</a:t>
            </a:r>
            <a:br/>
            <a:r>
              <a:t>            &lt;h3&gt;Delete Account&lt;/h3&gt;</a:t>
            </a:r>
            <a:br/>
            <a:r>
              <a:t>            &lt;button title="Cancel modal"&gt;</a:t>
            </a:r>
            <a:br/>
            <a:r>
              <a:t>                Discard changes</a:t>
            </a:r>
            <a:br/>
            <a:r>
              <a:t>            &lt;/button&gt;</a:t>
            </a:r>
            <a:br/>
            <a:r>
              <a:t>        &lt;/div&gt;</a:t>
            </a:r>
            <a:br/>
            <a:r>
              <a:t>    );</a:t>
            </a:r>
            <a:br/>
            <a:r>
              <a:t>}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Notice: 'Delete Account', 'Cancel modal', and 'Discard changes' are all hardcoded in English.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91640"/>
            <a:ext cx="5257800" cy="443484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965960"/>
            <a:ext cx="4617720" cy="3886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059669"/>
                </a:solidFill>
                <a:latin typeface="Segoe UI"/>
              </a:defRPr>
            </a:pPr>
            <a:r>
              <a:t>AFTER (Alt + L or Alt + Shift + L)</a:t>
            </a:r>
          </a:p>
          <a:p>
            <a:pPr>
              <a:spcAft>
                <a:spcPts val="1200"/>
              </a:spcAft>
              <a:defRPr sz="1000">
                <a:solidFill>
                  <a:srgbClr val="0F172A"/>
                </a:solidFill>
                <a:latin typeface="Consolas"/>
              </a:defRPr>
            </a:pPr>
            <a:r>
              <a:t>import { useTranslation } from 'react-i18next'; // Auto-inserted</a:t>
            </a:r>
            <a:br/>
            <a:br/>
            <a:r>
              <a:t>export function DeleteModal() {</a:t>
            </a:r>
            <a:br/>
            <a:r>
              <a:t>    const { t } = useTranslation();              // Auto-injected</a:t>
            </a:r>
            <a:br/>
            <a:r>
              <a:t>    return (</a:t>
            </a:r>
            <a:br/>
            <a:r>
              <a:t>        &lt;div&gt;</a:t>
            </a:r>
            <a:br/>
            <a:r>
              <a:t>            &lt;h3&gt;{t('common.deleteAccount')}&lt;/h3&gt;</a:t>
            </a:r>
            <a:br/>
            <a:r>
              <a:t>            &lt;button title={t('common.cancelModal')}&gt;</a:t>
            </a:r>
            <a:br/>
            <a:r>
              <a:t>                {t('common.discard')}</a:t>
            </a:r>
            <a:br/>
            <a:r>
              <a:t>            &lt;/button&gt;</a:t>
            </a:r>
            <a:br/>
            <a:r>
              <a:t>        &lt;/div&gt;</a:t>
            </a:r>
            <a:br/>
            <a:r>
              <a:t>    );</a:t>
            </a:r>
            <a:br/>
            <a:r>
              <a:t>}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And en.json was automatically updated with 'common.deleteAccount', 'common.cancelModal', and 'common.discard' without you ever opening the file.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DEVELOPER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Designed to be helpful, not in your 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Small details that make this tool a joy to use on real teams.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2606040" cy="4434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65960"/>
            <a:ext cx="2148840" cy="3886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Git-Staged Only</a:t>
            </a:r>
          </a:p>
          <a:p>
            <a:pPr>
              <a:spcAft>
                <a:spcPts val="24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It doesn't scan your 2,000 legacy files every time you open VS Code. It only scans lines you touched in your Git branch or unsaved buffers. Zero CPU spin.</a:t>
            </a:r>
          </a:p>
          <a:p>
            <a:pPr>
              <a:defRPr sz="1000" b="1">
                <a:solidFill>
                  <a:srgbClr val="2563EB"/>
                </a:solidFill>
                <a:latin typeface="Consolas"/>
              </a:defRPr>
            </a:pPr>
            <a:r>
              <a:t>Alt + S to force re-scan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691640"/>
            <a:ext cx="2606040" cy="4434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85032" y="1965960"/>
            <a:ext cx="2148840" cy="3886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Pre-Commit Heads-Up</a:t>
            </a:r>
          </a:p>
          <a:p>
            <a:pPr>
              <a:spcAft>
                <a:spcPts val="24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If you stage a commit with unlocalized strings, a discreet VS Code toast pops up. You can inspect it with one click before locking in the git commit.</a:t>
            </a:r>
          </a:p>
          <a:p>
            <a:pPr>
              <a:defRPr sz="1000" b="1">
                <a:solidFill>
                  <a:srgbClr val="2563EB"/>
                </a:solidFill>
                <a:latin typeface="Consolas"/>
              </a:defRPr>
            </a:pPr>
            <a:r>
              <a:t>Alt + R for full staged check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691640"/>
            <a:ext cx="2606040" cy="4434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965960"/>
            <a:ext cx="2148840" cy="3886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Dead Key Finder</a:t>
            </a:r>
          </a:p>
          <a:p>
            <a:pPr>
              <a:spcAft>
                <a:spcPts val="24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Over time, old features get deleted but their keys stay in en.json forever. Press Alt + U and the tool statically scans your whole codebase to find unused keys.</a:t>
            </a:r>
          </a:p>
          <a:p>
            <a:pPr>
              <a:defRPr sz="1000" b="1">
                <a:solidFill>
                  <a:srgbClr val="2563EB"/>
                </a:solidFill>
                <a:latin typeface="Consolas"/>
              </a:defRPr>
            </a:pPr>
            <a:r>
              <a:t>Alt + U audits en.json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6256" y="1691640"/>
            <a:ext cx="2606040" cy="4434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34856" y="1965960"/>
            <a:ext cx="2148840" cy="3886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1-Click Learning</a:t>
            </a:r>
          </a:p>
          <a:p>
            <a:pPr>
              <a:spcAft>
                <a:spcPts val="24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Have a custom component like &lt;AlertBanner text='...' /&gt;? Hit Alt + F at your cursor to teach the extension to check that prop across your team forever.</a:t>
            </a:r>
          </a:p>
          <a:p>
            <a:pPr>
              <a:defRPr sz="1000" b="1">
                <a:solidFill>
                  <a:srgbClr val="2563EB"/>
                </a:solidFill>
                <a:latin typeface="Consolas"/>
              </a:defRPr>
            </a:pPr>
            <a:r>
              <a:t>Alt + F to flag / Alt + M to ignore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THE BOTTOM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Why engineering teams actually keep this installed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Better international user experience without slowing down feature delivery.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10728655" cy="4434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057400"/>
            <a:ext cx="978408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600"/>
              </a:spcAft>
              <a:defRPr sz="2000" b="1">
                <a:solidFill>
                  <a:srgbClr val="0F172A"/>
                </a:solidFill>
                <a:latin typeface="Segoe UI"/>
              </a:defRPr>
            </a:pPr>
            <a:r>
              <a:t>In short:</a:t>
            </a:r>
          </a:p>
          <a:p>
            <a:pPr>
              <a:spcAft>
                <a:spcPts val="12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• No more embarrassing English strings in localized markets. </a:t>
            </a:r>
            <a:r>
              <a:rPr b="0">
                <a:solidFill>
                  <a:srgbClr val="334155"/>
                </a:solidFill>
                <a:latin typeface="Segoe UI"/>
              </a:rPr>
              <a:t>Catches errors right where they happen: in the code editor, while you're writing.</a:t>
            </a:r>
          </a:p>
          <a:p>
            <a:pPr>
              <a:spcAft>
                <a:spcPts val="12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• 90% less manual grunt work. </a:t>
            </a:r>
            <a:r>
              <a:rPr b="0">
                <a:solidFill>
                  <a:srgbClr val="334155"/>
                </a:solidFill>
                <a:latin typeface="Segoe UI"/>
              </a:rPr>
              <a:t>Alt + L automates the entire i18n plumbing (imports, hooks, keys, and dictionary updates).</a:t>
            </a:r>
          </a:p>
          <a:p>
            <a:pPr>
              <a:spcAft>
                <a:spcPts val="12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• Zero runtime overhead in production. </a:t>
            </a:r>
            <a:r>
              <a:rPr b="0">
                <a:solidFill>
                  <a:srgbClr val="334155"/>
                </a:solidFill>
                <a:latin typeface="Segoe UI"/>
              </a:rPr>
              <a:t>It is strictly a developer-time tool (VS Code extension). No npm runtime dependencies in your bundle.</a:t>
            </a:r>
          </a:p>
          <a:p>
            <a:pPr>
              <a:spcAft>
                <a:spcPts val="12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• Built to be trusted. </a:t>
            </a:r>
            <a:r>
              <a:rPr b="0">
                <a:solidFill>
                  <a:srgbClr val="334155"/>
                </a:solidFill>
                <a:latin typeface="Segoe UI"/>
              </a:rPr>
              <a:t>21 automated test cases, zero false alarms on standard code patterns, and safe reverse-order editing.</a:t>
            </a:r>
          </a:p>
          <a:p>
            <a:pPr>
              <a:spcBef>
                <a:spcPts val="800"/>
              </a:spcBef>
              <a:defRPr sz="1150" b="1">
                <a:solidFill>
                  <a:srgbClr val="2563EB"/>
                </a:solidFill>
                <a:latin typeface="Consolas"/>
              </a:defRPr>
            </a:pPr>
            <a:r>
              <a:t>Ready to install: Available on VS Code Marketplace &amp; VSIX package (v0.5.9)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